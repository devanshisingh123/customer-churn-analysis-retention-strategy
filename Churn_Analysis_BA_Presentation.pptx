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62052"/>
          </a:solidFill>
          <a:ln w="12700">
            <a:solidFill>
              <a:srgbClr val="1620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2743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0528" y="2743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86016" y="2743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61504" y="2743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6992" y="2743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743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8686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8686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86016" y="8686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1504" y="8686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6992" y="8686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4630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14630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86016" y="14630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1504" y="14630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36992" y="14630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14630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205740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205740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86016" y="205740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61504" y="205740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36992" y="205740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205740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65176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265176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86016" y="265176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61504" y="265176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36992" y="265176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265176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32461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32461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86016" y="32461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61504" y="32461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36992" y="32461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324612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38404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10528" y="38404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86016" y="38404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61504" y="38404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36992" y="38404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0" y="384048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44348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10528" y="44348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86016" y="44348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61504" y="44348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36992" y="44348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480" y="4434840"/>
            <a:ext cx="73152" cy="73152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1188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$3.4M</a:t>
            </a:r>
            <a:endParaRPr lang="en-US" sz="5600" dirty="0"/>
          </a:p>
        </p:txBody>
      </p:sp>
      <p:sp>
        <p:nvSpPr>
          <p:cNvPr id="53" name="Text 51"/>
          <p:cNvSpPr/>
          <p:nvPr/>
        </p:nvSpPr>
        <p:spPr>
          <a:xfrm>
            <a:off x="580644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AT RISK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92240" y="2578608"/>
            <a:ext cx="192024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0644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26.99% Churn Rate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80644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6,418 Customers Analysed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94360" y="502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ANALYSIS REPORT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94360" y="960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Telecom Customer</a:t>
            </a:r>
            <a:endParaRPr lang="en-US" sz="4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Churn Analysis</a:t>
            </a:r>
            <a:endParaRPr lang="en-US" sz="4200" dirty="0"/>
          </a:p>
        </p:txBody>
      </p:sp>
      <p:sp>
        <p:nvSpPr>
          <p:cNvPr id="59" name="Text 57"/>
          <p:cNvSpPr/>
          <p:nvPr/>
        </p:nvSpPr>
        <p:spPr>
          <a:xfrm>
            <a:off x="594360" y="2697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$3.4M in Annual Revenue Loss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Targeted Retention Strategy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594360" y="3931920"/>
            <a:ext cx="493776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  ·  Telecom Churn Project  ·  2026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94360" y="4407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Python  ·  Power BI  ·  Excel  · 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happening and why it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6,418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customer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71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1,732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246120" y="2395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Churn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left the business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4320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27432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71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$3.4M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17920" y="2395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Lost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Churn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value of churned customers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8595360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67328"/>
            <a:ext cx="832104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</a:t>
            </a:r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26.99% churn rate is nearly double the industry benchmark of 15%. Left unaddressed, this loss compounds year on year.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052"/>
          </a:solidFill>
          <a:ln w="12700">
            <a:solidFill>
              <a:srgbClr val="1620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CUSTOMERS LEAVING?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566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Data-backed root causes from 1,732 churned customers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88920" cy="3703320"/>
          </a:xfrm>
          <a:prstGeom prst="rect">
            <a:avLst/>
          </a:prstGeom>
          <a:solidFill>
            <a:srgbClr val="162052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170432"/>
            <a:ext cx="777240" cy="777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E74C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261872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20299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38328" y="283464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for a Competitor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328416"/>
            <a:ext cx="1874520" cy="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" y="340156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761 customers switched to rivals offering better devices, data packages, or pricing — making competitive pressure the #1 churn driver.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788920" cy="3703320"/>
          </a:xfrm>
          <a:prstGeom prst="rect">
            <a:avLst/>
          </a:prstGeom>
          <a:solidFill>
            <a:srgbClr val="162052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170432"/>
            <a:ext cx="777240" cy="777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39C1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261872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20299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46.5%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3355848" y="283464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Month-to-Month Churn Rate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703320" y="3328416"/>
            <a:ext cx="187452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55848" y="340156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17× higher than 2-year contract holders (2.7%). No contract = no loyalty. This single variable predicts churn more than any other.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63640" y="1051560"/>
            <a:ext cx="2788920" cy="3703320"/>
          </a:xfrm>
          <a:prstGeom prst="rect">
            <a:avLst/>
          </a:prstGeom>
          <a:solidFill>
            <a:srgbClr val="162052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69480" y="1170432"/>
            <a:ext cx="777240" cy="7772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A90D9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26187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63640" y="20299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41.1%</a:t>
            </a:r>
            <a:endParaRPr lang="en-US" sz="4400" dirty="0"/>
          </a:p>
        </p:txBody>
      </p:sp>
      <p:sp>
        <p:nvSpPr>
          <p:cNvPr id="24" name="Text 19"/>
          <p:cNvSpPr/>
          <p:nvPr/>
        </p:nvSpPr>
        <p:spPr>
          <a:xfrm>
            <a:off x="6373368" y="283464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 Users Churning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720840" y="3328416"/>
            <a:ext cx="187452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373368" y="340156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Highest-paying segment ($90/month avg) with the worst churn rate. $2.78M of lost revenue comes from this one group alone.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566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targeted interventions to reduce churn and recover revenue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05156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51560"/>
            <a:ext cx="283464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7899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111556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0896" y="171907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&amp; Save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Program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10896" y="2441448"/>
            <a:ext cx="2633472" cy="274320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" y="2441448"/>
            <a:ext cx="2606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1,529 Month-to-Month Customers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10896" y="276148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10–15% discount to switch to annual contract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 at month 9–11 tenure window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via SMS + email with 14-day deadline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01168" y="4206240"/>
            <a:ext cx="283464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4224528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Could shift 46.5% churn → ~37%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105156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051560"/>
            <a:ext cx="283464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55848" y="107899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15568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55848" y="171907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Shield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355848" y="2441448"/>
            <a:ext cx="2633472" cy="27432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83280" y="2441448"/>
            <a:ext cx="2606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761 Competitor-Lost Customers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355848" y="276148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Loyalty Pricing Desk for at-risk callers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rewards at 6, 12, 24 months tenure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top 4 competitor advantages directly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246120" y="4206240"/>
            <a:ext cx="283464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37560" y="4224528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Addresses 44% of all churn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291072" y="105156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91072" y="1051560"/>
            <a:ext cx="283464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00800" y="107899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115568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00800" y="171907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Program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6400800" y="2441448"/>
            <a:ext cx="2633472" cy="274320"/>
          </a:xfrm>
          <a:prstGeom prst="rect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428232" y="2441448"/>
            <a:ext cx="2606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1,017 Active Fiber + MTM Customers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400800" y="276148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check-in call at day 30 and month 6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survey at month 3, flag score &lt; 7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+ 2-year bundle at 12% discounted rate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291072" y="4206240"/>
            <a:ext cx="283464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382512" y="4224528"/>
            <a:ext cx="2651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Recovers up to $278K per 10% saved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052"/>
          </a:solidFill>
          <a:ln w="12700">
            <a:solidFill>
              <a:srgbClr val="1620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 &amp; NEXT STEPS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566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estimates based on real churn data — no new acquisition cost required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743200" cy="1874520"/>
          </a:xfrm>
          <a:prstGeom prst="rect">
            <a:avLst/>
          </a:prstGeom>
          <a:solidFill>
            <a:srgbClr val="1A3A6B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43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10% churn reduced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4173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$341,196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" y="2167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743200" cy="1874520"/>
          </a:xfrm>
          <a:prstGeom prst="rect">
            <a:avLst/>
          </a:prstGeom>
          <a:solidFill>
            <a:srgbClr val="1A4F7A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143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20% churn reduced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4173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$682,392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46120" y="2167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743200" cy="1874520"/>
          </a:xfrm>
          <a:prstGeom prst="rect">
            <a:avLst/>
          </a:prstGeom>
          <a:solidFill>
            <a:srgbClr val="1A6680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143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30% churn reduced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$1.02M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17920" y="2167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8275320" cy="566928"/>
          </a:xfrm>
          <a:prstGeom prst="rect">
            <a:avLst/>
          </a:prstGeom>
          <a:solidFill>
            <a:srgbClr val="16205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45536"/>
            <a:ext cx="8046720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Priority Segment: </a:t>
            </a:r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 High Risk customers (Month-to-Month + Fiber Optic + &lt;12 months) carry a 60.3% churn rate. Immediate outreach to this group is the single highest-ROI action available.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2743200" cy="1024128"/>
          </a:xfrm>
          <a:prstGeom prst="rect">
            <a:avLst/>
          </a:prstGeom>
          <a:solidFill>
            <a:srgbClr val="162052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22192"/>
            <a:ext cx="777240" cy="10241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58768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858768"/>
            <a:ext cx="1883664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the Stay &amp; Save contract program with 200 high-risk customers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822192"/>
            <a:ext cx="2743200" cy="1024128"/>
          </a:xfrm>
          <a:prstGeom prst="rect">
            <a:avLst/>
          </a:prstGeom>
          <a:solidFill>
            <a:srgbClr val="162052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822192"/>
            <a:ext cx="777240" cy="10241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858768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69080" y="3858768"/>
            <a:ext cx="1883664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retention rate vs control group and calculate actual ROI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822192"/>
            <a:ext cx="2743200" cy="1024128"/>
          </a:xfrm>
          <a:prstGeom prst="rect">
            <a:avLst/>
          </a:prstGeom>
          <a:solidFill>
            <a:srgbClr val="162052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822192"/>
            <a:ext cx="777240" cy="10241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858768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858768"/>
            <a:ext cx="1883664" cy="960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Fiber Optic Success Program and Loyalty Shield company-wide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Churn Analysis — BA Presentation</dc:title>
  <dc:subject>PptxGenJS Presentation</dc:subject>
  <dc:creator>Churn Analysis Project</dc:creator>
  <cp:lastModifiedBy>Churn Analysis Project</cp:lastModifiedBy>
  <cp:revision>1</cp:revision>
  <dcterms:created xsi:type="dcterms:W3CDTF">2026-05-08T20:27:35Z</dcterms:created>
  <dcterms:modified xsi:type="dcterms:W3CDTF">2026-05-08T20:27:35Z</dcterms:modified>
</cp:coreProperties>
</file>